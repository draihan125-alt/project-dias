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6" r:id="rId2"/>
    <p:sldId id="258" r:id="rId3"/>
    <p:sldId id="260" r:id="rId4"/>
    <p:sldId id="259" r:id="rId5"/>
    <p:sldId id="257"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121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C17897-3746-4758-9291-F470DE9E3FAC}" type="datetimeFigureOut">
              <a:rPr lang="en-US" smtClean="0"/>
              <a:t>6/24/2026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3AD827-EC5B-4266-BAB0-CA686F39C878}" type="slidenum">
              <a:rPr lang="en-US" smtClean="0"/>
              <a:t>‹#›</a:t>
            </a:fld>
            <a:endParaRPr lang="en-US"/>
          </a:p>
        </p:txBody>
      </p:sp>
    </p:spTree>
    <p:extLst>
      <p:ext uri="{BB962C8B-B14F-4D97-AF65-F5344CB8AC3E}">
        <p14:creationId xmlns:p14="http://schemas.microsoft.com/office/powerpoint/2010/main" val="4137426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95236B-6FD6-4C70-8881-733616F02C47}"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2254260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5236B-6FD6-4C70-8881-733616F02C47}"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108226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95236B-6FD6-4C70-8881-733616F02C47}"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3182318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95236B-6FD6-4C70-8881-733616F02C47}"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4192565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95236B-6FD6-4C70-8881-733616F02C47}"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1498246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95236B-6FD6-4C70-8881-733616F02C47}"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712195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95236B-6FD6-4C70-8881-733616F02C47}"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338743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95236B-6FD6-4C70-8881-733616F02C47}"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530771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95236B-6FD6-4C70-8881-733616F02C47}"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93421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5236B-6FD6-4C70-8881-733616F02C47}"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3624251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5236B-6FD6-4C70-8881-733616F02C47}"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1981728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95236B-6FD6-4C70-8881-733616F02C47}" type="datetimeFigureOut">
              <a:rPr lang="en-US" smtClean="0"/>
              <a:t>6/24/2026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2DA856-0A7A-4052-B4F0-908557218842}" type="slidenum">
              <a:rPr lang="en-US" smtClean="0"/>
              <a:t>‹#›</a:t>
            </a:fld>
            <a:endParaRPr lang="en-US"/>
          </a:p>
        </p:txBody>
      </p:sp>
      <p:sp>
        <p:nvSpPr>
          <p:cNvPr id="8" name="TextBox 7">
            <a:extLst>
              <a:ext uri="{FF2B5EF4-FFF2-40B4-BE49-F238E27FC236}">
                <a16:creationId xmlns:a16="http://schemas.microsoft.com/office/drawing/2014/main" id="{F2641E9B-E798-DAC4-4A9B-678AE27FF49B}"/>
              </a:ext>
            </a:extLst>
          </p:cNvPr>
          <p:cNvSpPr txBox="1"/>
          <p:nvPr userDrawn="1">
            <p:extLst>
              <p:ext uri="{1162E1C5-73C7-4A58-AE30-91384D911F3F}">
                <p184:classification xmlns:p184="http://schemas.microsoft.com/office/powerpoint/2018/4/main" val="hdr"/>
              </p:ext>
            </p:extLst>
          </p:nvPr>
        </p:nvSpPr>
        <p:spPr>
          <a:xfrm>
            <a:off x="3854450" y="63500"/>
            <a:ext cx="1466850"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LGE Internal Use Only</a:t>
            </a:r>
          </a:p>
        </p:txBody>
      </p:sp>
    </p:spTree>
    <p:extLst>
      <p:ext uri="{BB962C8B-B14F-4D97-AF65-F5344CB8AC3E}">
        <p14:creationId xmlns:p14="http://schemas.microsoft.com/office/powerpoint/2010/main" val="37749962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9DEA988-F4FC-5007-9FEA-065DFB2B1733}"/>
              </a:ext>
            </a:extLst>
          </p:cNvPr>
          <p:cNvSpPr>
            <a:spLocks noGrp="1"/>
          </p:cNvSpPr>
          <p:nvPr>
            <p:ph type="title"/>
          </p:nvPr>
        </p:nvSpPr>
        <p:spPr>
          <a:xfrm>
            <a:off x="0" y="0"/>
            <a:ext cx="4106333" cy="499533"/>
          </a:xfrm>
        </p:spPr>
        <p:style>
          <a:lnRef idx="2">
            <a:schemeClr val="accent6"/>
          </a:lnRef>
          <a:fillRef idx="1">
            <a:schemeClr val="lt1"/>
          </a:fillRef>
          <a:effectRef idx="0">
            <a:schemeClr val="accent6"/>
          </a:effectRef>
          <a:fontRef idx="minor">
            <a:schemeClr val="dk1"/>
          </a:fontRef>
        </p:style>
        <p:txBody>
          <a:bodyPr>
            <a:normAutofit/>
          </a:bodyPr>
          <a:lstStyle/>
          <a:p>
            <a:pPr marL="285750" indent="-285750" algn="just">
              <a:lnSpc>
                <a:spcPct val="100000"/>
              </a:lnSpc>
              <a:buFont typeface="Wingdings" panose="05000000000000000000" pitchFamily="2" charset="2"/>
              <a:buChar char="Ø"/>
            </a:pPr>
            <a:r>
              <a:rPr lang="en-US" sz="1400" b="1" i="1" dirty="0" err="1">
                <a:latin typeface="+mj-lt"/>
              </a:rPr>
              <a:t>Project:Reliability</a:t>
            </a:r>
            <a:r>
              <a:rPr lang="en-US" sz="1400" b="1" i="1" dirty="0">
                <a:latin typeface="+mj-lt"/>
              </a:rPr>
              <a:t> asset management </a:t>
            </a:r>
            <a:r>
              <a:rPr lang="en-US" sz="1200" b="1" i="1" dirty="0">
                <a:latin typeface="+mj-lt"/>
              </a:rPr>
              <a:t>control</a:t>
            </a:r>
            <a:endParaRPr lang="en-US" sz="5400" b="1" i="1" dirty="0">
              <a:latin typeface="+mj-lt"/>
            </a:endParaRPr>
          </a:p>
        </p:txBody>
      </p:sp>
      <p:sp>
        <p:nvSpPr>
          <p:cNvPr id="8" name="Rectangle 7">
            <a:extLst>
              <a:ext uri="{FF2B5EF4-FFF2-40B4-BE49-F238E27FC236}">
                <a16:creationId xmlns:a16="http://schemas.microsoft.com/office/drawing/2014/main" id="{2943ED8B-2EEF-74F4-680B-1F950A61D06E}"/>
              </a:ext>
            </a:extLst>
          </p:cNvPr>
          <p:cNvSpPr/>
          <p:nvPr/>
        </p:nvSpPr>
        <p:spPr>
          <a:xfrm>
            <a:off x="0" y="1674283"/>
            <a:ext cx="6155267" cy="50207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53730D92-7853-6371-F945-587728F61682}"/>
              </a:ext>
            </a:extLst>
          </p:cNvPr>
          <p:cNvSpPr/>
          <p:nvPr/>
        </p:nvSpPr>
        <p:spPr>
          <a:xfrm>
            <a:off x="0" y="855132"/>
            <a:ext cx="4995332" cy="7471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1" name="Connector: Elbow 10">
            <a:extLst>
              <a:ext uri="{FF2B5EF4-FFF2-40B4-BE49-F238E27FC236}">
                <a16:creationId xmlns:a16="http://schemas.microsoft.com/office/drawing/2014/main" id="{E77A661C-016D-E0F7-6DE4-C612EFA9F50C}"/>
              </a:ext>
            </a:extLst>
          </p:cNvPr>
          <p:cNvCxnSpPr/>
          <p:nvPr/>
        </p:nvCxnSpPr>
        <p:spPr>
          <a:xfrm rot="16200000" flipH="1">
            <a:off x="4040716" y="421216"/>
            <a:ext cx="427567" cy="296333"/>
          </a:xfrm>
          <a:prstGeom prst="bentConnector3">
            <a:avLst>
              <a:gd name="adj1" fmla="val 5000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Flowchart: Alternate Process 12">
            <a:extLst>
              <a:ext uri="{FF2B5EF4-FFF2-40B4-BE49-F238E27FC236}">
                <a16:creationId xmlns:a16="http://schemas.microsoft.com/office/drawing/2014/main" id="{E890B1AB-B458-D1FB-EE97-6C0F8D38D785}"/>
              </a:ext>
            </a:extLst>
          </p:cNvPr>
          <p:cNvSpPr/>
          <p:nvPr/>
        </p:nvSpPr>
        <p:spPr>
          <a:xfrm>
            <a:off x="6375401" y="1735666"/>
            <a:ext cx="2683932" cy="939801"/>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139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DA377-7018-C51F-4896-EE567EC16C58}"/>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00FDEE1-7DDC-DD00-E344-12488A474D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98550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903718-F5B1-4110-C9D8-93ADFE5960B7}"/>
              </a:ext>
            </a:extLst>
          </p:cNvPr>
          <p:cNvSpPr/>
          <p:nvPr/>
        </p:nvSpPr>
        <p:spPr>
          <a:xfrm>
            <a:off x="79590" y="163196"/>
            <a:ext cx="1157537" cy="5854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i="1" dirty="0"/>
              <a:t>Project</a:t>
            </a:r>
          </a:p>
        </p:txBody>
      </p:sp>
      <p:sp>
        <p:nvSpPr>
          <p:cNvPr id="3" name="Rectangle 2">
            <a:extLst>
              <a:ext uri="{FF2B5EF4-FFF2-40B4-BE49-F238E27FC236}">
                <a16:creationId xmlns:a16="http://schemas.microsoft.com/office/drawing/2014/main" id="{7312F58A-952B-D9B6-CD7D-3DBCE5210806}"/>
              </a:ext>
            </a:extLst>
          </p:cNvPr>
          <p:cNvSpPr/>
          <p:nvPr/>
        </p:nvSpPr>
        <p:spPr>
          <a:xfrm>
            <a:off x="1287418" y="163196"/>
            <a:ext cx="3457143" cy="5854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Reliability asset management control (RAMC)</a:t>
            </a:r>
          </a:p>
        </p:txBody>
      </p:sp>
      <p:sp>
        <p:nvSpPr>
          <p:cNvPr id="4" name="Rectangle 3">
            <a:extLst>
              <a:ext uri="{FF2B5EF4-FFF2-40B4-BE49-F238E27FC236}">
                <a16:creationId xmlns:a16="http://schemas.microsoft.com/office/drawing/2014/main" id="{97A46837-6A20-6877-72B7-7E2D5419AB15}"/>
              </a:ext>
            </a:extLst>
          </p:cNvPr>
          <p:cNvSpPr/>
          <p:nvPr/>
        </p:nvSpPr>
        <p:spPr>
          <a:xfrm>
            <a:off x="4778295" y="156845"/>
            <a:ext cx="665772" cy="13379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i="1" u="sng" dirty="0"/>
              <a:t>EXC</a:t>
            </a:r>
          </a:p>
          <a:p>
            <a:pPr algn="ctr"/>
            <a:r>
              <a:rPr lang="en-US" b="1" i="1" u="sng" dirty="0"/>
              <a:t>ORG</a:t>
            </a:r>
          </a:p>
        </p:txBody>
      </p:sp>
      <p:sp>
        <p:nvSpPr>
          <p:cNvPr id="5" name="Rectangle 4">
            <a:extLst>
              <a:ext uri="{FF2B5EF4-FFF2-40B4-BE49-F238E27FC236}">
                <a16:creationId xmlns:a16="http://schemas.microsoft.com/office/drawing/2014/main" id="{997AFB7D-295D-80D3-1F79-1FC3F166D69A}"/>
              </a:ext>
            </a:extLst>
          </p:cNvPr>
          <p:cNvSpPr/>
          <p:nvPr/>
        </p:nvSpPr>
        <p:spPr>
          <a:xfrm>
            <a:off x="5477801" y="156845"/>
            <a:ext cx="513128" cy="45846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b="1" dirty="0"/>
              <a:t>PIC</a:t>
            </a:r>
          </a:p>
        </p:txBody>
      </p:sp>
      <p:sp>
        <p:nvSpPr>
          <p:cNvPr id="6" name="Rectangle 5">
            <a:extLst>
              <a:ext uri="{FF2B5EF4-FFF2-40B4-BE49-F238E27FC236}">
                <a16:creationId xmlns:a16="http://schemas.microsoft.com/office/drawing/2014/main" id="{A56C383C-6A63-CC64-E46E-BCCC7F5767CB}"/>
              </a:ext>
            </a:extLst>
          </p:cNvPr>
          <p:cNvSpPr/>
          <p:nvPr/>
        </p:nvSpPr>
        <p:spPr>
          <a:xfrm>
            <a:off x="5489460" y="691728"/>
            <a:ext cx="513128" cy="8030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900" b="1" i="1" u="sng" dirty="0"/>
              <a:t>Team</a:t>
            </a:r>
          </a:p>
          <a:p>
            <a:r>
              <a:rPr lang="en-US" sz="900" b="1" i="1" u="sng" dirty="0"/>
              <a:t>Name</a:t>
            </a:r>
            <a:endParaRPr lang="en-US" sz="1200" b="1" i="1" u="sng" dirty="0"/>
          </a:p>
        </p:txBody>
      </p:sp>
      <p:sp>
        <p:nvSpPr>
          <p:cNvPr id="7" name="Flowchart: Process 6">
            <a:extLst>
              <a:ext uri="{FF2B5EF4-FFF2-40B4-BE49-F238E27FC236}">
                <a16:creationId xmlns:a16="http://schemas.microsoft.com/office/drawing/2014/main" id="{86FEEC6E-4D43-95D2-2CF9-ABA04989AB54}"/>
              </a:ext>
            </a:extLst>
          </p:cNvPr>
          <p:cNvSpPr/>
          <p:nvPr/>
        </p:nvSpPr>
        <p:spPr>
          <a:xfrm>
            <a:off x="6047982" y="699772"/>
            <a:ext cx="3016427" cy="795018"/>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b="1" i="1" u="sng" dirty="0">
                <a:effectLst>
                  <a:outerShdw blurRad="38100" dist="38100" dir="2700000" algn="tl">
                    <a:srgbClr val="000000">
                      <a:alpha val="43137"/>
                    </a:srgbClr>
                  </a:outerShdw>
                </a:effectLst>
              </a:rPr>
              <a:t>DQA Team</a:t>
            </a:r>
          </a:p>
        </p:txBody>
      </p:sp>
      <p:sp>
        <p:nvSpPr>
          <p:cNvPr id="8" name="Rectangle 7">
            <a:extLst>
              <a:ext uri="{FF2B5EF4-FFF2-40B4-BE49-F238E27FC236}">
                <a16:creationId xmlns:a16="http://schemas.microsoft.com/office/drawing/2014/main" id="{132821D0-B0C9-3406-787C-4220515233E4}"/>
              </a:ext>
            </a:extLst>
          </p:cNvPr>
          <p:cNvSpPr/>
          <p:nvPr/>
        </p:nvSpPr>
        <p:spPr>
          <a:xfrm>
            <a:off x="6024662" y="156844"/>
            <a:ext cx="3018579" cy="4584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b="1" i="1" dirty="0" err="1">
                <a:ea typeface="LG Smart_H2.0 L" panose="020B0600000101010101" pitchFamily="34" charset="-127"/>
              </a:rPr>
              <a:t>Mr.Shin</a:t>
            </a:r>
            <a:r>
              <a:rPr lang="en-US" sz="1000" b="1" i="1" dirty="0">
                <a:ea typeface="LG Smart_H2.0 L" panose="020B0600000101010101" pitchFamily="34" charset="-127"/>
              </a:rPr>
              <a:t> Hyun Woo (FSE),Pak Amri (Team Leader)</a:t>
            </a:r>
          </a:p>
          <a:p>
            <a:pPr algn="ctr"/>
            <a:r>
              <a:rPr lang="en-US" sz="1000" b="1" i="1" dirty="0" err="1">
                <a:ea typeface="LG Smart_H2.0 L" panose="020B0600000101010101" pitchFamily="34" charset="-127"/>
              </a:rPr>
              <a:t>Raihan,Andy,Rafi,Riki,Fauzul</a:t>
            </a:r>
            <a:endParaRPr lang="en-US" sz="1000" b="1" i="1" dirty="0">
              <a:ea typeface="LG Smart_H2.0 L" panose="020B0600000101010101" pitchFamily="34" charset="-127"/>
            </a:endParaRPr>
          </a:p>
        </p:txBody>
      </p:sp>
      <p:sp>
        <p:nvSpPr>
          <p:cNvPr id="10" name="Rectangle 9">
            <a:extLst>
              <a:ext uri="{FF2B5EF4-FFF2-40B4-BE49-F238E27FC236}">
                <a16:creationId xmlns:a16="http://schemas.microsoft.com/office/drawing/2014/main" id="{28FC6E2B-F4A9-21E6-79FF-C388B82E698F}"/>
              </a:ext>
            </a:extLst>
          </p:cNvPr>
          <p:cNvSpPr/>
          <p:nvPr/>
        </p:nvSpPr>
        <p:spPr>
          <a:xfrm>
            <a:off x="79590" y="787401"/>
            <a:ext cx="587356" cy="7154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i="1" dirty="0"/>
              <a:t>KPI</a:t>
            </a:r>
          </a:p>
        </p:txBody>
      </p:sp>
      <p:sp>
        <p:nvSpPr>
          <p:cNvPr id="11" name="Rectangle 10">
            <a:extLst>
              <a:ext uri="{FF2B5EF4-FFF2-40B4-BE49-F238E27FC236}">
                <a16:creationId xmlns:a16="http://schemas.microsoft.com/office/drawing/2014/main" id="{FDAB717D-7D1F-9786-F4FE-DD4F38BFC110}"/>
              </a:ext>
            </a:extLst>
          </p:cNvPr>
          <p:cNvSpPr/>
          <p:nvPr/>
        </p:nvSpPr>
        <p:spPr>
          <a:xfrm>
            <a:off x="719469" y="791422"/>
            <a:ext cx="4020562" cy="7073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171450" indent="-171450">
              <a:buFont typeface="Arial" panose="020B0604020202020204" pitchFamily="34" charset="0"/>
              <a:buChar char="•"/>
            </a:pPr>
            <a:endParaRPr lang="en-US" sz="1100" dirty="0"/>
          </a:p>
          <a:p>
            <a:pPr algn="ctr"/>
            <a:endParaRPr lang="en-US" sz="1600" dirty="0"/>
          </a:p>
          <a:p>
            <a:pPr marL="171450" indent="-171450">
              <a:buFont typeface="Arial" panose="020B0604020202020204" pitchFamily="34" charset="0"/>
              <a:buChar char="•"/>
            </a:pPr>
            <a:r>
              <a:rPr lang="en-US" sz="900" b="1" dirty="0"/>
              <a:t>All equipment is recorded in the system</a:t>
            </a:r>
          </a:p>
          <a:p>
            <a:pPr marL="171450" indent="-171450">
              <a:buFont typeface="Arial" panose="020B0604020202020204" pitchFamily="34" charset="0"/>
              <a:buChar char="•"/>
            </a:pPr>
            <a:r>
              <a:rPr lang="en-US" sz="900" b="1" dirty="0"/>
              <a:t>Data is complete and well-</a:t>
            </a:r>
            <a:r>
              <a:rPr lang="en-US" sz="900" b="1" dirty="0" err="1"/>
              <a:t>maintainen</a:t>
            </a:r>
            <a:endParaRPr lang="en-US" sz="900" b="1" dirty="0"/>
          </a:p>
          <a:p>
            <a:pPr marL="171450" indent="-171450">
              <a:buFont typeface="Arial" panose="020B0604020202020204" pitchFamily="34" charset="0"/>
              <a:buChar char="•"/>
            </a:pPr>
            <a:r>
              <a:rPr lang="en-US" sz="1000" b="1" dirty="0"/>
              <a:t>User-friendly and easy to use</a:t>
            </a:r>
          </a:p>
          <a:p>
            <a:pPr algn="ctr"/>
            <a:endParaRPr lang="en-US" sz="1600" dirty="0"/>
          </a:p>
          <a:p>
            <a:pPr algn="ctr"/>
            <a:endParaRPr lang="en-US" sz="1600" dirty="0"/>
          </a:p>
        </p:txBody>
      </p:sp>
      <p:sp>
        <p:nvSpPr>
          <p:cNvPr id="12" name="Rectangle 11">
            <a:extLst>
              <a:ext uri="{FF2B5EF4-FFF2-40B4-BE49-F238E27FC236}">
                <a16:creationId xmlns:a16="http://schemas.microsoft.com/office/drawing/2014/main" id="{8D6D1704-CA88-262D-5BE9-57700D3FF445}"/>
              </a:ext>
            </a:extLst>
          </p:cNvPr>
          <p:cNvSpPr/>
          <p:nvPr/>
        </p:nvSpPr>
        <p:spPr>
          <a:xfrm rot="10800000" flipV="1">
            <a:off x="79590" y="1553633"/>
            <a:ext cx="5186677" cy="3001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Preview</a:t>
            </a:r>
          </a:p>
        </p:txBody>
      </p:sp>
      <p:sp>
        <p:nvSpPr>
          <p:cNvPr id="29" name="Rectangle 28">
            <a:extLst>
              <a:ext uri="{FF2B5EF4-FFF2-40B4-BE49-F238E27FC236}">
                <a16:creationId xmlns:a16="http://schemas.microsoft.com/office/drawing/2014/main" id="{942F74FB-B202-DAB6-2A4C-1139D11575A1}"/>
              </a:ext>
            </a:extLst>
          </p:cNvPr>
          <p:cNvSpPr/>
          <p:nvPr/>
        </p:nvSpPr>
        <p:spPr>
          <a:xfrm>
            <a:off x="5318789" y="1545589"/>
            <a:ext cx="3745621" cy="3081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Details</a:t>
            </a:r>
          </a:p>
        </p:txBody>
      </p:sp>
      <p:pic>
        <p:nvPicPr>
          <p:cNvPr id="32" name="Picture 31">
            <a:extLst>
              <a:ext uri="{FF2B5EF4-FFF2-40B4-BE49-F238E27FC236}">
                <a16:creationId xmlns:a16="http://schemas.microsoft.com/office/drawing/2014/main" id="{DE7E9724-7826-589F-8CBE-8051E7D737A1}"/>
              </a:ext>
            </a:extLst>
          </p:cNvPr>
          <p:cNvPicPr>
            <a:picLocks noChangeAspect="1"/>
          </p:cNvPicPr>
          <p:nvPr/>
        </p:nvPicPr>
        <p:blipFill>
          <a:blip r:embed="rId2"/>
          <a:stretch>
            <a:fillRect/>
          </a:stretch>
        </p:blipFill>
        <p:spPr>
          <a:xfrm>
            <a:off x="79590" y="1904576"/>
            <a:ext cx="5186677" cy="3544571"/>
          </a:xfrm>
          <a:prstGeom prst="rect">
            <a:avLst/>
          </a:prstGeom>
        </p:spPr>
      </p:pic>
      <p:sp>
        <p:nvSpPr>
          <p:cNvPr id="33" name="Flowchart: Process 32">
            <a:extLst>
              <a:ext uri="{FF2B5EF4-FFF2-40B4-BE49-F238E27FC236}">
                <a16:creationId xmlns:a16="http://schemas.microsoft.com/office/drawing/2014/main" id="{D5453ED5-36A3-0948-7D15-770939836A0D}"/>
              </a:ext>
            </a:extLst>
          </p:cNvPr>
          <p:cNvSpPr/>
          <p:nvPr/>
        </p:nvSpPr>
        <p:spPr>
          <a:xfrm>
            <a:off x="5318789" y="1904576"/>
            <a:ext cx="3724453" cy="3544572"/>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marL="171450" indent="-171450" algn="ctr">
              <a:buFont typeface="Wingdings" panose="05000000000000000000" pitchFamily="2" charset="2"/>
              <a:buChar char="Ø"/>
            </a:pPr>
            <a:r>
              <a:rPr lang="en-US" sz="900" b="1" i="1" dirty="0"/>
              <a:t>1.BackgroundThe Reliability Asset Management Control (RAMC) system is developed to manage and monitor equipment data effectively within the DQA Team. Previously, data recording was done manually, which caused inefficiency, data inconsistency, and difficulty in tracking equipment status.</a:t>
            </a:r>
          </a:p>
          <a:p>
            <a:pPr marL="171450" indent="-171450" algn="ctr">
              <a:buFont typeface="Wingdings" panose="05000000000000000000" pitchFamily="2" charset="2"/>
              <a:buChar char="Ø"/>
            </a:pPr>
            <a:r>
              <a:rPr lang="en-US" sz="900" b="1" i="1" dirty="0"/>
              <a:t>2. </a:t>
            </a:r>
            <a:r>
              <a:rPr lang="en-US" sz="900" b="1" i="1" dirty="0" err="1"/>
              <a:t>ObjectiveTo</a:t>
            </a:r>
            <a:r>
              <a:rPr lang="en-US" sz="900" b="1" i="1" dirty="0"/>
              <a:t> digitalize equipment data </a:t>
            </a:r>
            <a:r>
              <a:rPr lang="en-US" sz="900" b="1" i="1" dirty="0" err="1"/>
              <a:t>recordingTo</a:t>
            </a:r>
            <a:r>
              <a:rPr lang="en-US" sz="900" b="1" i="1" dirty="0"/>
              <a:t> improve data accuracy and </a:t>
            </a:r>
            <a:r>
              <a:rPr lang="en-US" sz="900" b="1" i="1" dirty="0" err="1"/>
              <a:t>consistencyTo</a:t>
            </a:r>
            <a:r>
              <a:rPr lang="en-US" sz="900" b="1" i="1" dirty="0"/>
              <a:t> simplify monitoring of equipment condition and calibration status</a:t>
            </a:r>
          </a:p>
          <a:p>
            <a:pPr marL="171450" indent="-171450" algn="ctr">
              <a:buFont typeface="Wingdings" panose="05000000000000000000" pitchFamily="2" charset="2"/>
              <a:buChar char="Ø"/>
            </a:pPr>
            <a:r>
              <a:rPr lang="en-US" sz="900" b="1" i="1" dirty="0"/>
              <a:t>3. System </a:t>
            </a:r>
            <a:r>
              <a:rPr lang="en-US" sz="900" b="1" i="1" dirty="0" err="1"/>
              <a:t>DescriptionThe</a:t>
            </a:r>
            <a:r>
              <a:rPr lang="en-US" sz="900" b="1" i="1" dirty="0"/>
              <a:t> system is a web-based application developed using Node.js, Express.js, and PostgreSQL for the backend, and HTML, CSS, and JavaScript for the </a:t>
            </a:r>
            <a:r>
              <a:rPr lang="en-US" sz="900" b="1" i="1" dirty="0" err="1"/>
              <a:t>frontend.It</a:t>
            </a:r>
            <a:r>
              <a:rPr lang="en-US" sz="900" b="1" i="1" dirty="0"/>
              <a:t> allows users to perform basic data management such </a:t>
            </a:r>
            <a:r>
              <a:rPr lang="en-US" sz="900" b="1" i="1" dirty="0" err="1"/>
              <a:t>as:Add</a:t>
            </a:r>
            <a:r>
              <a:rPr lang="en-US" sz="900" b="1" i="1" dirty="0"/>
              <a:t> new equipment </a:t>
            </a:r>
            <a:r>
              <a:rPr lang="en-US" sz="900" b="1" i="1" dirty="0" err="1"/>
              <a:t>dataView</a:t>
            </a:r>
            <a:r>
              <a:rPr lang="en-US" sz="900" b="1" i="1" dirty="0"/>
              <a:t> equipment </a:t>
            </a:r>
            <a:r>
              <a:rPr lang="en-US" sz="900" b="1" i="1" dirty="0" err="1"/>
              <a:t>listUpdate</a:t>
            </a:r>
            <a:r>
              <a:rPr lang="en-US" sz="900" b="1" i="1" dirty="0"/>
              <a:t> equipment </a:t>
            </a:r>
            <a:r>
              <a:rPr lang="en-US" sz="900" b="1" i="1" dirty="0" err="1"/>
              <a:t>informationDelete</a:t>
            </a:r>
            <a:r>
              <a:rPr lang="en-US" sz="900" b="1" i="1" dirty="0"/>
              <a:t> equipment data</a:t>
            </a:r>
          </a:p>
          <a:p>
            <a:pPr marL="171450" indent="-171450" algn="ctr">
              <a:buFont typeface="Wingdings" panose="05000000000000000000" pitchFamily="2" charset="2"/>
              <a:buChar char="Ø"/>
            </a:pPr>
            <a:r>
              <a:rPr lang="en-US" sz="900" b="1" i="1" dirty="0"/>
              <a:t>4. Key </a:t>
            </a:r>
            <a:r>
              <a:rPr lang="en-US" sz="900" b="1" i="1" dirty="0" err="1"/>
              <a:t>FeaturesEquipment</a:t>
            </a:r>
            <a:r>
              <a:rPr lang="en-US" sz="900" b="1" i="1" dirty="0"/>
              <a:t> data management (CRUD)Search </a:t>
            </a:r>
            <a:r>
              <a:rPr lang="en-US" sz="900" b="1" i="1" dirty="0" err="1"/>
              <a:t>functionalityStatus</a:t>
            </a:r>
            <a:r>
              <a:rPr lang="en-US" sz="900" b="1" i="1" dirty="0"/>
              <a:t> and condition </a:t>
            </a:r>
            <a:r>
              <a:rPr lang="en-US" sz="900" b="1" i="1" dirty="0" err="1"/>
              <a:t>trackingCalibration</a:t>
            </a:r>
            <a:r>
              <a:rPr lang="en-US" sz="900" b="1" i="1" dirty="0"/>
              <a:t> date </a:t>
            </a:r>
            <a:r>
              <a:rPr lang="en-US" sz="900" b="1" i="1" dirty="0" err="1"/>
              <a:t>monitoringSimple</a:t>
            </a:r>
            <a:r>
              <a:rPr lang="en-US" sz="900" b="1" i="1" dirty="0"/>
              <a:t> and user-friendly interface</a:t>
            </a:r>
          </a:p>
          <a:p>
            <a:pPr marL="171450" indent="-171450" algn="ctr">
              <a:buFont typeface="Wingdings" panose="05000000000000000000" pitchFamily="2" charset="2"/>
              <a:buChar char="Ø"/>
            </a:pPr>
            <a:r>
              <a:rPr lang="en-US" sz="900" b="1" i="1" dirty="0"/>
              <a:t>5. Expected </a:t>
            </a:r>
            <a:r>
              <a:rPr lang="en-US" sz="900" b="1" i="1" dirty="0" err="1"/>
              <a:t>BenefitsFaster</a:t>
            </a:r>
            <a:r>
              <a:rPr lang="en-US" sz="900" b="1" i="1" dirty="0"/>
              <a:t> data input and </a:t>
            </a:r>
            <a:r>
              <a:rPr lang="en-US" sz="900" b="1" i="1" dirty="0" err="1"/>
              <a:t>retrievalReduced</a:t>
            </a:r>
            <a:r>
              <a:rPr lang="en-US" sz="900" b="1" i="1" dirty="0"/>
              <a:t> human </a:t>
            </a:r>
            <a:r>
              <a:rPr lang="en-US" sz="900" b="1" i="1" dirty="0" err="1"/>
              <a:t>errorCentralized</a:t>
            </a:r>
            <a:r>
              <a:rPr lang="en-US" sz="900" b="1" i="1" dirty="0"/>
              <a:t> data </a:t>
            </a:r>
            <a:r>
              <a:rPr lang="en-US" sz="900" b="1" i="1" dirty="0" err="1"/>
              <a:t>storageBetter</a:t>
            </a:r>
            <a:r>
              <a:rPr lang="en-US" sz="900" b="1" i="1" dirty="0"/>
              <a:t> control of equipment status</a:t>
            </a:r>
          </a:p>
          <a:p>
            <a:pPr marL="171450" indent="-171450" algn="ctr">
              <a:buFont typeface="Wingdings" panose="05000000000000000000" pitchFamily="2" charset="2"/>
              <a:buChar char="Ø"/>
            </a:pPr>
            <a:r>
              <a:rPr lang="en-US" sz="900" b="1" i="1" dirty="0"/>
              <a:t>6. Current </a:t>
            </a:r>
            <a:r>
              <a:rPr lang="en-US" sz="900" b="1" i="1" dirty="0" err="1"/>
              <a:t>StatusThe</a:t>
            </a:r>
            <a:r>
              <a:rPr lang="en-US" sz="900" b="1" i="1" dirty="0"/>
              <a:t> system has successfully connected frontend, backend, and database. Data can be displayed and managed through the web interface. Further improvements are focused on enhancing user interface and system stability</a:t>
            </a:r>
          </a:p>
        </p:txBody>
      </p:sp>
      <p:sp>
        <p:nvSpPr>
          <p:cNvPr id="39" name="Flowchart: Process 38">
            <a:extLst>
              <a:ext uri="{FF2B5EF4-FFF2-40B4-BE49-F238E27FC236}">
                <a16:creationId xmlns:a16="http://schemas.microsoft.com/office/drawing/2014/main" id="{1385E774-AA30-D78E-FB1C-57A57AF97858}"/>
              </a:ext>
            </a:extLst>
          </p:cNvPr>
          <p:cNvSpPr/>
          <p:nvPr/>
        </p:nvSpPr>
        <p:spPr>
          <a:xfrm>
            <a:off x="79591" y="5808134"/>
            <a:ext cx="8963650" cy="982134"/>
          </a:xfrm>
          <a:prstGeom prst="flowChart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41" name="Flowchart: Process 40">
            <a:extLst>
              <a:ext uri="{FF2B5EF4-FFF2-40B4-BE49-F238E27FC236}">
                <a16:creationId xmlns:a16="http://schemas.microsoft.com/office/drawing/2014/main" id="{02CAEA3E-2D3E-0ECF-024E-29FB9A3D9B5B}"/>
              </a:ext>
            </a:extLst>
          </p:cNvPr>
          <p:cNvSpPr/>
          <p:nvPr/>
        </p:nvSpPr>
        <p:spPr>
          <a:xfrm>
            <a:off x="79590" y="5748445"/>
            <a:ext cx="9043241" cy="104182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i="1" dirty="0" err="1"/>
              <a:t>NOTED:</a:t>
            </a:r>
            <a:r>
              <a:rPr lang="en-US" sz="1600" i="1" dirty="0" err="1"/>
              <a:t>This</a:t>
            </a:r>
            <a:r>
              <a:rPr lang="en-US" sz="1600" i="1" dirty="0"/>
              <a:t> interface is not fully finalized and is currently presented for demonstration purposes only. Some columns will need to be removed, and additional features or columns are planned to be implemented in the dashboard in future revisions</a:t>
            </a:r>
            <a:r>
              <a:rPr lang="en-US" sz="1600" b="1" i="1" dirty="0"/>
              <a:t>.</a:t>
            </a:r>
          </a:p>
        </p:txBody>
      </p:sp>
      <p:cxnSp>
        <p:nvCxnSpPr>
          <p:cNvPr id="46" name="Connector: Curved 45">
            <a:extLst>
              <a:ext uri="{FF2B5EF4-FFF2-40B4-BE49-F238E27FC236}">
                <a16:creationId xmlns:a16="http://schemas.microsoft.com/office/drawing/2014/main" id="{041CC947-CD9B-3236-CE7B-5C4F3BD0DAD5}"/>
              </a:ext>
            </a:extLst>
          </p:cNvPr>
          <p:cNvCxnSpPr>
            <a:cxnSpLocks/>
          </p:cNvCxnSpPr>
          <p:nvPr/>
        </p:nvCxnSpPr>
        <p:spPr>
          <a:xfrm rot="16200000" flipH="1">
            <a:off x="935672" y="5512541"/>
            <a:ext cx="270721" cy="143933"/>
          </a:xfrm>
          <a:prstGeom prst="curvedConnector3">
            <a:avLst>
              <a:gd name="adj1" fmla="val 81274"/>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973704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Diagonal Corners Rounded 4">
            <a:extLst>
              <a:ext uri="{FF2B5EF4-FFF2-40B4-BE49-F238E27FC236}">
                <a16:creationId xmlns:a16="http://schemas.microsoft.com/office/drawing/2014/main" id="{B31828B9-7B21-C40F-76F4-4E28FBBB4279}"/>
              </a:ext>
            </a:extLst>
          </p:cNvPr>
          <p:cNvSpPr/>
          <p:nvPr/>
        </p:nvSpPr>
        <p:spPr>
          <a:xfrm>
            <a:off x="0" y="857250"/>
            <a:ext cx="5226050" cy="495300"/>
          </a:xfrm>
          <a:prstGeom prst="round2DiagRect">
            <a:avLst/>
          </a:prstGeom>
        </p:spPr>
        <p:style>
          <a:lnRef idx="2">
            <a:schemeClr val="accent6"/>
          </a:lnRef>
          <a:fillRef idx="1">
            <a:schemeClr val="lt1"/>
          </a:fillRef>
          <a:effectRef idx="0">
            <a:schemeClr val="accent6"/>
          </a:effectRef>
          <a:fontRef idx="minor">
            <a:schemeClr val="dk1"/>
          </a:fontRef>
        </p:style>
        <p:txBody>
          <a:bodyPr rtlCol="0" anchor="ctr"/>
          <a:lstStyle/>
          <a:p>
            <a:pPr algn="ctr">
              <a:lnSpc>
                <a:spcPct val="250000"/>
              </a:lnSpc>
            </a:pPr>
            <a:r>
              <a:rPr lang="en-US" sz="1350" b="1" dirty="0"/>
              <a:t>Reliability asset management control (RAMC)</a:t>
            </a:r>
          </a:p>
          <a:p>
            <a:pPr algn="ctr"/>
            <a:endParaRPr lang="en-US" sz="1350" dirty="0"/>
          </a:p>
        </p:txBody>
      </p:sp>
      <p:sp>
        <p:nvSpPr>
          <p:cNvPr id="6" name="Rectangle 5">
            <a:extLst>
              <a:ext uri="{FF2B5EF4-FFF2-40B4-BE49-F238E27FC236}">
                <a16:creationId xmlns:a16="http://schemas.microsoft.com/office/drawing/2014/main" id="{E7EA55BF-2B24-E3B9-93D4-B01B3E29CCD9}"/>
              </a:ext>
            </a:extLst>
          </p:cNvPr>
          <p:cNvSpPr/>
          <p:nvPr/>
        </p:nvSpPr>
        <p:spPr>
          <a:xfrm>
            <a:off x="0" y="1352550"/>
            <a:ext cx="5226050" cy="38481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b="1" dirty="0">
              <a:ln w="22225">
                <a:solidFill>
                  <a:schemeClr val="accent2"/>
                </a:solidFill>
                <a:prstDash val="solid"/>
              </a:ln>
              <a:solidFill>
                <a:schemeClr val="accent2">
                  <a:lumMod val="40000"/>
                  <a:lumOff val="60000"/>
                </a:schemeClr>
              </a:solidFill>
            </a:endParaRPr>
          </a:p>
        </p:txBody>
      </p:sp>
      <p:sp>
        <p:nvSpPr>
          <p:cNvPr id="7" name="Rectangle 6">
            <a:extLst>
              <a:ext uri="{FF2B5EF4-FFF2-40B4-BE49-F238E27FC236}">
                <a16:creationId xmlns:a16="http://schemas.microsoft.com/office/drawing/2014/main" id="{774EE953-1908-F82B-EEAC-9C0EF51E9785}"/>
              </a:ext>
            </a:extLst>
          </p:cNvPr>
          <p:cNvSpPr/>
          <p:nvPr/>
        </p:nvSpPr>
        <p:spPr>
          <a:xfrm>
            <a:off x="5226050" y="857250"/>
            <a:ext cx="3917951" cy="5461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dirty="0"/>
          </a:p>
        </p:txBody>
      </p:sp>
      <p:sp>
        <p:nvSpPr>
          <p:cNvPr id="8" name="Rectangle: Rounded Corners 7">
            <a:extLst>
              <a:ext uri="{FF2B5EF4-FFF2-40B4-BE49-F238E27FC236}">
                <a16:creationId xmlns:a16="http://schemas.microsoft.com/office/drawing/2014/main" id="{447A55CB-1B63-F856-E0BD-89011A9B1AFB}"/>
              </a:ext>
            </a:extLst>
          </p:cNvPr>
          <p:cNvSpPr/>
          <p:nvPr/>
        </p:nvSpPr>
        <p:spPr>
          <a:xfrm>
            <a:off x="5283200" y="1454150"/>
            <a:ext cx="3803651" cy="9525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a:p>
        </p:txBody>
      </p:sp>
      <p:cxnSp>
        <p:nvCxnSpPr>
          <p:cNvPr id="10" name="Straight Arrow Connector 9">
            <a:extLst>
              <a:ext uri="{FF2B5EF4-FFF2-40B4-BE49-F238E27FC236}">
                <a16:creationId xmlns:a16="http://schemas.microsoft.com/office/drawing/2014/main" id="{BEC9E743-1F1A-2C3F-3A5F-CAC2B49BC5FD}"/>
              </a:ext>
            </a:extLst>
          </p:cNvPr>
          <p:cNvCxnSpPr>
            <a:cxnSpLocks/>
          </p:cNvCxnSpPr>
          <p:nvPr/>
        </p:nvCxnSpPr>
        <p:spPr>
          <a:xfrm>
            <a:off x="6454776" y="2454275"/>
            <a:ext cx="454025" cy="47625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2" name="Rectangle: Rounded Corners 11">
            <a:extLst>
              <a:ext uri="{FF2B5EF4-FFF2-40B4-BE49-F238E27FC236}">
                <a16:creationId xmlns:a16="http://schemas.microsoft.com/office/drawing/2014/main" id="{90C0BC03-CA17-DE47-C5D0-CE99C93F4A0E}"/>
              </a:ext>
            </a:extLst>
          </p:cNvPr>
          <p:cNvSpPr/>
          <p:nvPr/>
        </p:nvSpPr>
        <p:spPr>
          <a:xfrm>
            <a:off x="5353050" y="2952750"/>
            <a:ext cx="3733801" cy="9525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a:p>
        </p:txBody>
      </p:sp>
      <p:cxnSp>
        <p:nvCxnSpPr>
          <p:cNvPr id="14" name="Straight Arrow Connector 13">
            <a:extLst>
              <a:ext uri="{FF2B5EF4-FFF2-40B4-BE49-F238E27FC236}">
                <a16:creationId xmlns:a16="http://schemas.microsoft.com/office/drawing/2014/main" id="{5403400F-D4D4-9235-8B07-0498B2D7B88A}"/>
              </a:ext>
            </a:extLst>
          </p:cNvPr>
          <p:cNvCxnSpPr>
            <a:cxnSpLocks/>
            <a:stCxn id="12" idx="2"/>
          </p:cNvCxnSpPr>
          <p:nvPr/>
        </p:nvCxnSpPr>
        <p:spPr>
          <a:xfrm flipH="1">
            <a:off x="6867526" y="3905250"/>
            <a:ext cx="352425" cy="57785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5" name="Rectangle: Rounded Corners 14">
            <a:extLst>
              <a:ext uri="{FF2B5EF4-FFF2-40B4-BE49-F238E27FC236}">
                <a16:creationId xmlns:a16="http://schemas.microsoft.com/office/drawing/2014/main" id="{5A9E1FB2-A55B-B04B-03D5-1904CEF608CC}"/>
              </a:ext>
            </a:extLst>
          </p:cNvPr>
          <p:cNvSpPr/>
          <p:nvPr/>
        </p:nvSpPr>
        <p:spPr>
          <a:xfrm>
            <a:off x="5353050" y="4527550"/>
            <a:ext cx="3733801" cy="8763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a:p>
        </p:txBody>
      </p:sp>
      <p:graphicFrame>
        <p:nvGraphicFramePr>
          <p:cNvPr id="17" name="Table 16">
            <a:extLst>
              <a:ext uri="{FF2B5EF4-FFF2-40B4-BE49-F238E27FC236}">
                <a16:creationId xmlns:a16="http://schemas.microsoft.com/office/drawing/2014/main" id="{A74FD77C-D269-512C-710D-9EFC09739098}"/>
              </a:ext>
            </a:extLst>
          </p:cNvPr>
          <p:cNvGraphicFramePr>
            <a:graphicFrameLocks noGrp="1"/>
          </p:cNvGraphicFramePr>
          <p:nvPr>
            <p:extLst>
              <p:ext uri="{D42A27DB-BD31-4B8C-83A1-F6EECF244321}">
                <p14:modId xmlns:p14="http://schemas.microsoft.com/office/powerpoint/2010/main" val="2153225197"/>
              </p:ext>
            </p:extLst>
          </p:nvPr>
        </p:nvGraphicFramePr>
        <p:xfrm>
          <a:off x="-1" y="1352550"/>
          <a:ext cx="3949701" cy="857250"/>
        </p:xfrm>
        <a:graphic>
          <a:graphicData uri="http://schemas.openxmlformats.org/drawingml/2006/table">
            <a:tbl>
              <a:tblPr/>
              <a:tblGrid>
                <a:gridCol w="3949701">
                  <a:extLst>
                    <a:ext uri="{9D8B030D-6E8A-4147-A177-3AD203B41FA5}">
                      <a16:colId xmlns:a16="http://schemas.microsoft.com/office/drawing/2014/main" val="3243820640"/>
                    </a:ext>
                  </a:extLst>
                </a:gridCol>
              </a:tblGrid>
              <a:tr h="388327">
                <a:tc>
                  <a:txBody>
                    <a:bodyPr/>
                    <a:lstStyle/>
                    <a:p>
                      <a:pPr algn="l" fontAlgn="t">
                        <a:lnSpc>
                          <a:spcPts val="1500"/>
                        </a:lnSpc>
                        <a:buNone/>
                      </a:pPr>
                      <a:endParaRPr lang="en-US" sz="1400" b="0" i="0" dirty="0">
                        <a:effectLst/>
                        <a:latin typeface="Segoe UI" panose="020B0502040204020203" pitchFamily="34" charset="0"/>
                      </a:endParaRPr>
                    </a:p>
                  </a:txBody>
                  <a:tcPr marL="68580" marR="68580" marT="34290" marB="34290">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939746490"/>
                  </a:ext>
                </a:extLst>
              </a:tr>
              <a:tr h="468923">
                <a:tc>
                  <a:txBody>
                    <a:bodyPr/>
                    <a:lstStyle/>
                    <a:p>
                      <a:endParaRPr lang="en-US" sz="1400" dirty="0"/>
                    </a:p>
                  </a:txBody>
                  <a:tcPr marL="68580" marR="68580" marT="34290" marB="34290">
                    <a:lnT w="7620" cap="flat" cmpd="sng" algn="ctr">
                      <a:solidFill>
                        <a:srgbClr val="E6E6E6"/>
                      </a:solidFill>
                      <a:prstDash val="solid"/>
                      <a:round/>
                      <a:headEnd type="none" w="med" len="med"/>
                      <a:tailEnd type="none" w="med" len="med"/>
                    </a:lnT>
                    <a:noFill/>
                  </a:tcPr>
                </a:tc>
                <a:extLst>
                  <a:ext uri="{0D108BD9-81ED-4DB2-BD59-A6C34878D82A}">
                    <a16:rowId xmlns:a16="http://schemas.microsoft.com/office/drawing/2014/main" val="4002352490"/>
                  </a:ext>
                </a:extLst>
              </a:tr>
            </a:tbl>
          </a:graphicData>
        </a:graphic>
      </p:graphicFrame>
      <p:graphicFrame>
        <p:nvGraphicFramePr>
          <p:cNvPr id="18" name="Table 17">
            <a:extLst>
              <a:ext uri="{FF2B5EF4-FFF2-40B4-BE49-F238E27FC236}">
                <a16:creationId xmlns:a16="http://schemas.microsoft.com/office/drawing/2014/main" id="{9BC967A9-DCAA-B548-8FD5-09DBB207C110}"/>
              </a:ext>
            </a:extLst>
          </p:cNvPr>
          <p:cNvGraphicFramePr>
            <a:graphicFrameLocks noGrp="1"/>
          </p:cNvGraphicFramePr>
          <p:nvPr>
            <p:extLst>
              <p:ext uri="{D42A27DB-BD31-4B8C-83A1-F6EECF244321}">
                <p14:modId xmlns:p14="http://schemas.microsoft.com/office/powerpoint/2010/main" val="881826562"/>
              </p:ext>
            </p:extLst>
          </p:nvPr>
        </p:nvGraphicFramePr>
        <p:xfrm>
          <a:off x="628650" y="3607475"/>
          <a:ext cx="3638550" cy="737235"/>
        </p:xfrm>
        <a:graphic>
          <a:graphicData uri="http://schemas.openxmlformats.org/drawingml/2006/table">
            <a:tbl>
              <a:tblPr/>
              <a:tblGrid>
                <a:gridCol w="3638550">
                  <a:extLst>
                    <a:ext uri="{9D8B030D-6E8A-4147-A177-3AD203B41FA5}">
                      <a16:colId xmlns:a16="http://schemas.microsoft.com/office/drawing/2014/main" val="2043561871"/>
                    </a:ext>
                  </a:extLst>
                </a:gridCol>
              </a:tblGrid>
              <a:tr h="370046">
                <a:tc>
                  <a:txBody>
                    <a:bodyPr/>
                    <a:lstStyle/>
                    <a:p>
                      <a:pPr fontAlgn="t">
                        <a:lnSpc>
                          <a:spcPts val="1500"/>
                        </a:lnSpc>
                        <a:buNone/>
                      </a:pPr>
                      <a:r>
                        <a:rPr lang="en-US" sz="1400" b="0" i="0" dirty="0">
                          <a:effectLst/>
                          <a:latin typeface="Segoe UI" panose="020B0502040204020203" pitchFamily="34" charset="0"/>
                        </a:rPr>
                        <a:t>Project Reliability Asset Management Control Team: DQA Team PIC: (nama </a:t>
                      </a:r>
                      <a:r>
                        <a:rPr lang="en-US" sz="1400" b="0" i="0" dirty="0" err="1">
                          <a:effectLst/>
                          <a:latin typeface="Segoe UI" panose="020B0502040204020203" pitchFamily="34" charset="0"/>
                        </a:rPr>
                        <a:t>kamu</a:t>
                      </a:r>
                      <a:r>
                        <a:rPr lang="en-US" sz="1400" b="0" i="0" dirty="0">
                          <a:effectLst/>
                          <a:latin typeface="Segoe UI" panose="020B0502040204020203" pitchFamily="34" charset="0"/>
                        </a:rPr>
                        <a:t>)</a:t>
                      </a:r>
                    </a:p>
                  </a:txBody>
                  <a:tcPr marL="68580" marR="68580" marT="34290" marB="34290">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517165899"/>
                  </a:ext>
                </a:extLst>
              </a:tr>
              <a:tr h="274320">
                <a:tc>
                  <a:txBody>
                    <a:bodyPr/>
                    <a:lstStyle/>
                    <a:p>
                      <a:endParaRPr lang="en-US" sz="1400" dirty="0"/>
                    </a:p>
                  </a:txBody>
                  <a:tcPr marL="68580" marR="68580" marT="34290" marB="34290">
                    <a:lnT w="762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733242675"/>
                  </a:ext>
                </a:extLst>
              </a:tr>
            </a:tbl>
          </a:graphicData>
        </a:graphic>
      </p:graphicFrame>
    </p:spTree>
    <p:extLst>
      <p:ext uri="{BB962C8B-B14F-4D97-AF65-F5344CB8AC3E}">
        <p14:creationId xmlns:p14="http://schemas.microsoft.com/office/powerpoint/2010/main" val="876241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FACA6-5B41-7E40-BAE1-30F2F6AE22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7E8111-5571-6ED1-9F5D-1283D2B7A67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059865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324</Words>
  <Application>Microsoft Office PowerPoint</Application>
  <PresentationFormat>On-screen Show (4:3)</PresentationFormat>
  <Paragraphs>28</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LG Smart_H2.0 L</vt:lpstr>
      <vt:lpstr>Aptos</vt:lpstr>
      <vt:lpstr>Aptos Display</vt:lpstr>
      <vt:lpstr>Arial</vt:lpstr>
      <vt:lpstr>Segoe UI</vt:lpstr>
      <vt:lpstr>Wingdings</vt:lpstr>
      <vt:lpstr>Office Theme</vt:lpstr>
      <vt:lpstr>Project:Reliability asset management control</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RAIHAN DIAS SYARIF MAHENDRA/LGERC DQA TEAM</dc:creator>
  <cp:lastModifiedBy>RAIHAN DIAS SYARIF MAHENDRA/LGERC DQA TEAM</cp:lastModifiedBy>
  <cp:revision>1</cp:revision>
  <dcterms:created xsi:type="dcterms:W3CDTF">2026-06-24T00:42:11Z</dcterms:created>
  <dcterms:modified xsi:type="dcterms:W3CDTF">2026-06-24T02:51:14Z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c6ed9fc-fefc-4a0c-a6d6-10cf236c0d4f_Enabled">
    <vt:lpwstr>true</vt:lpwstr>
  </property>
  <property fmtid="{D5CDD505-2E9C-101B-9397-08002B2CF9AE}" pid="3" name="MSIP_Label_cc6ed9fc-fefc-4a0c-a6d6-10cf236c0d4f_SetDate">
    <vt:lpwstr>2026-06-24T02:50:31Z</vt:lpwstr>
  </property>
  <property fmtid="{D5CDD505-2E9C-101B-9397-08002B2CF9AE}" pid="4" name="MSIP_Label_cc6ed9fc-fefc-4a0c-a6d6-10cf236c0d4f_Method">
    <vt:lpwstr>Standard</vt:lpwstr>
  </property>
  <property fmtid="{D5CDD505-2E9C-101B-9397-08002B2CF9AE}" pid="5" name="MSIP_Label_cc6ed9fc-fefc-4a0c-a6d6-10cf236c0d4f_Name">
    <vt:lpwstr>Internal use only</vt:lpwstr>
  </property>
  <property fmtid="{D5CDD505-2E9C-101B-9397-08002B2CF9AE}" pid="6" name="MSIP_Label_cc6ed9fc-fefc-4a0c-a6d6-10cf236c0d4f_SiteId">
    <vt:lpwstr>5069cde4-642a-45c0-8094-d0c2dec10be3</vt:lpwstr>
  </property>
  <property fmtid="{D5CDD505-2E9C-101B-9397-08002B2CF9AE}" pid="7" name="MSIP_Label_cc6ed9fc-fefc-4a0c-a6d6-10cf236c0d4f_ActionId">
    <vt:lpwstr>a9943931-a953-4791-84f0-456c65155808</vt:lpwstr>
  </property>
  <property fmtid="{D5CDD505-2E9C-101B-9397-08002B2CF9AE}" pid="8" name="MSIP_Label_cc6ed9fc-fefc-4a0c-a6d6-10cf236c0d4f_ContentBits">
    <vt:lpwstr>1</vt:lpwstr>
  </property>
  <property fmtid="{D5CDD505-2E9C-101B-9397-08002B2CF9AE}" pid="9" name="MSIP_Label_cc6ed9fc-fefc-4a0c-a6d6-10cf236c0d4f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LGE Internal Use Only</vt:lpwstr>
  </property>
</Properties>
</file>