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60" r:id="rId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1219"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C17897-3746-4758-9291-F470DE9E3FAC}" type="datetimeFigureOut">
              <a:rPr lang="en-US" smtClean="0"/>
              <a:t>6/24/2026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3AD827-EC5B-4266-BAB0-CA686F39C878}" type="slidenum">
              <a:rPr lang="en-US" smtClean="0"/>
              <a:t>‹#›</a:t>
            </a:fld>
            <a:endParaRPr lang="en-US"/>
          </a:p>
        </p:txBody>
      </p:sp>
    </p:spTree>
    <p:extLst>
      <p:ext uri="{BB962C8B-B14F-4D97-AF65-F5344CB8AC3E}">
        <p14:creationId xmlns:p14="http://schemas.microsoft.com/office/powerpoint/2010/main" val="4137426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2254260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1082267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31823180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95236B-6FD6-4C70-8881-733616F02C47}"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41925655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95236B-6FD6-4C70-8881-733616F02C47}" type="datetimeFigureOut">
              <a:rPr lang="en-US" smtClean="0"/>
              <a:t>6/24/2026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1498246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95236B-6FD6-4C70-8881-733616F02C47}" type="datetimeFigureOut">
              <a:rPr lang="en-US" smtClean="0"/>
              <a:t>6/24/2026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712195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95236B-6FD6-4C70-8881-733616F02C47}" type="datetimeFigureOut">
              <a:rPr lang="en-US" smtClean="0"/>
              <a:t>6/24/2026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338743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95236B-6FD6-4C70-8881-733616F02C47}"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530771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95236B-6FD6-4C70-8881-733616F02C47}" type="datetimeFigureOut">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93421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3624251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95236B-6FD6-4C70-8881-733616F02C47}" type="datetimeFigureOut">
              <a:rPr lang="en-US" smtClean="0"/>
              <a:t>6/24/2026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2DA856-0A7A-4052-B4F0-908557218842}" type="slidenum">
              <a:rPr lang="en-US" smtClean="0"/>
              <a:t>‹#›</a:t>
            </a:fld>
            <a:endParaRPr lang="en-US"/>
          </a:p>
        </p:txBody>
      </p:sp>
    </p:spTree>
    <p:extLst>
      <p:ext uri="{BB962C8B-B14F-4D97-AF65-F5344CB8AC3E}">
        <p14:creationId xmlns:p14="http://schemas.microsoft.com/office/powerpoint/2010/main" val="19817283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95236B-6FD6-4C70-8881-733616F02C47}" type="datetimeFigureOut">
              <a:rPr lang="en-US" smtClean="0"/>
              <a:t>6/24/2026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2DA856-0A7A-4052-B4F0-908557218842}" type="slidenum">
              <a:rPr lang="en-US" smtClean="0"/>
              <a:t>‹#›</a:t>
            </a:fld>
            <a:endParaRPr lang="en-US"/>
          </a:p>
        </p:txBody>
      </p:sp>
      <p:sp>
        <p:nvSpPr>
          <p:cNvPr id="8" name="TextBox 7">
            <a:extLst>
              <a:ext uri="{FF2B5EF4-FFF2-40B4-BE49-F238E27FC236}">
                <a16:creationId xmlns:a16="http://schemas.microsoft.com/office/drawing/2014/main" id="{F2641E9B-E798-DAC4-4A9B-678AE27FF49B}"/>
              </a:ext>
            </a:extLst>
          </p:cNvPr>
          <p:cNvSpPr txBox="1"/>
          <p:nvPr userDrawn="1">
            <p:extLst>
              <p:ext uri="{1162E1C5-73C7-4A58-AE30-91384D911F3F}">
                <p184:classification xmlns:p184="http://schemas.microsoft.com/office/powerpoint/2018/4/main" val="hdr"/>
              </p:ext>
            </p:extLst>
          </p:nvPr>
        </p:nvSpPr>
        <p:spPr>
          <a:xfrm>
            <a:off x="3854450" y="63500"/>
            <a:ext cx="1466850" cy="182880"/>
          </a:xfrm>
          <a:prstGeom prst="rect">
            <a:avLst/>
          </a:prstGeom>
        </p:spPr>
        <p:txBody>
          <a:bodyPr horzOverflow="overflow" lIns="0" tIns="0" rIns="0" bIns="0">
            <a:spAutoFit/>
          </a:bodyPr>
          <a:lstStyle/>
          <a:p>
            <a:pPr algn="l"/>
            <a:r>
              <a:rPr lang="en-US" sz="1200">
                <a:solidFill>
                  <a:srgbClr val="000000">
                    <a:alpha val="50000"/>
                  </a:srgbClr>
                </a:solidFill>
                <a:latin typeface="Aptos" panose="020B0004020202020204" pitchFamily="34" charset="0"/>
              </a:rPr>
              <a:t>LGE Internal Use Only</a:t>
            </a:r>
          </a:p>
        </p:txBody>
      </p:sp>
    </p:spTree>
    <p:extLst>
      <p:ext uri="{BB962C8B-B14F-4D97-AF65-F5344CB8AC3E}">
        <p14:creationId xmlns:p14="http://schemas.microsoft.com/office/powerpoint/2010/main" val="37749962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903718-F5B1-4110-C9D8-93ADFE5960B7}"/>
              </a:ext>
            </a:extLst>
          </p:cNvPr>
          <p:cNvSpPr/>
          <p:nvPr/>
        </p:nvSpPr>
        <p:spPr>
          <a:xfrm>
            <a:off x="79590" y="163196"/>
            <a:ext cx="1157537" cy="5854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i="1" dirty="0"/>
              <a:t>Project</a:t>
            </a:r>
          </a:p>
        </p:txBody>
      </p:sp>
      <p:sp>
        <p:nvSpPr>
          <p:cNvPr id="3" name="Rectangle 2">
            <a:extLst>
              <a:ext uri="{FF2B5EF4-FFF2-40B4-BE49-F238E27FC236}">
                <a16:creationId xmlns:a16="http://schemas.microsoft.com/office/drawing/2014/main" id="{7312F58A-952B-D9B6-CD7D-3DBCE5210806}"/>
              </a:ext>
            </a:extLst>
          </p:cNvPr>
          <p:cNvSpPr/>
          <p:nvPr/>
        </p:nvSpPr>
        <p:spPr>
          <a:xfrm>
            <a:off x="1287418" y="163196"/>
            <a:ext cx="3457143" cy="5854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Reliability asset management control (RAMC)</a:t>
            </a:r>
          </a:p>
        </p:txBody>
      </p:sp>
      <p:sp>
        <p:nvSpPr>
          <p:cNvPr id="4" name="Rectangle 3">
            <a:extLst>
              <a:ext uri="{FF2B5EF4-FFF2-40B4-BE49-F238E27FC236}">
                <a16:creationId xmlns:a16="http://schemas.microsoft.com/office/drawing/2014/main" id="{97A46837-6A20-6877-72B7-7E2D5419AB15}"/>
              </a:ext>
            </a:extLst>
          </p:cNvPr>
          <p:cNvSpPr/>
          <p:nvPr/>
        </p:nvSpPr>
        <p:spPr>
          <a:xfrm>
            <a:off x="4778295" y="156845"/>
            <a:ext cx="665772" cy="1337945"/>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i="1" u="sng" dirty="0"/>
              <a:t>EXC</a:t>
            </a:r>
          </a:p>
          <a:p>
            <a:pPr algn="ctr"/>
            <a:r>
              <a:rPr lang="en-US" b="1" i="1" u="sng" dirty="0"/>
              <a:t>ORG</a:t>
            </a:r>
          </a:p>
        </p:txBody>
      </p:sp>
      <p:sp>
        <p:nvSpPr>
          <p:cNvPr id="5" name="Rectangle 4">
            <a:extLst>
              <a:ext uri="{FF2B5EF4-FFF2-40B4-BE49-F238E27FC236}">
                <a16:creationId xmlns:a16="http://schemas.microsoft.com/office/drawing/2014/main" id="{997AFB7D-295D-80D3-1F79-1FC3F166D69A}"/>
              </a:ext>
            </a:extLst>
          </p:cNvPr>
          <p:cNvSpPr/>
          <p:nvPr/>
        </p:nvSpPr>
        <p:spPr>
          <a:xfrm>
            <a:off x="5477801" y="156845"/>
            <a:ext cx="513128" cy="45846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b="1" dirty="0"/>
              <a:t>PIC</a:t>
            </a:r>
          </a:p>
        </p:txBody>
      </p:sp>
      <p:sp>
        <p:nvSpPr>
          <p:cNvPr id="6" name="Rectangle 5">
            <a:extLst>
              <a:ext uri="{FF2B5EF4-FFF2-40B4-BE49-F238E27FC236}">
                <a16:creationId xmlns:a16="http://schemas.microsoft.com/office/drawing/2014/main" id="{A56C383C-6A63-CC64-E46E-BCCC7F5767CB}"/>
              </a:ext>
            </a:extLst>
          </p:cNvPr>
          <p:cNvSpPr/>
          <p:nvPr/>
        </p:nvSpPr>
        <p:spPr>
          <a:xfrm>
            <a:off x="5489460" y="691728"/>
            <a:ext cx="513128" cy="80306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r>
              <a:rPr lang="en-US" sz="900" b="1" i="1" u="sng" dirty="0"/>
              <a:t>Team</a:t>
            </a:r>
          </a:p>
          <a:p>
            <a:r>
              <a:rPr lang="en-US" sz="900" b="1" i="1" u="sng" dirty="0"/>
              <a:t>Name</a:t>
            </a:r>
            <a:endParaRPr lang="en-US" sz="1200" b="1" i="1" u="sng" dirty="0"/>
          </a:p>
        </p:txBody>
      </p:sp>
      <p:sp>
        <p:nvSpPr>
          <p:cNvPr id="7" name="Flowchart: Process 6">
            <a:extLst>
              <a:ext uri="{FF2B5EF4-FFF2-40B4-BE49-F238E27FC236}">
                <a16:creationId xmlns:a16="http://schemas.microsoft.com/office/drawing/2014/main" id="{86FEEC6E-4D43-95D2-2CF9-ABA04989AB54}"/>
              </a:ext>
            </a:extLst>
          </p:cNvPr>
          <p:cNvSpPr/>
          <p:nvPr/>
        </p:nvSpPr>
        <p:spPr>
          <a:xfrm>
            <a:off x="6047982" y="699772"/>
            <a:ext cx="3016427" cy="795018"/>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50" b="1" i="1" u="sng" dirty="0">
                <a:effectLst>
                  <a:outerShdw blurRad="38100" dist="38100" dir="2700000" algn="tl">
                    <a:srgbClr val="000000">
                      <a:alpha val="43137"/>
                    </a:srgbClr>
                  </a:outerShdw>
                </a:effectLst>
              </a:rPr>
              <a:t>DQA Team</a:t>
            </a:r>
          </a:p>
        </p:txBody>
      </p:sp>
      <p:sp>
        <p:nvSpPr>
          <p:cNvPr id="8" name="Rectangle 7">
            <a:extLst>
              <a:ext uri="{FF2B5EF4-FFF2-40B4-BE49-F238E27FC236}">
                <a16:creationId xmlns:a16="http://schemas.microsoft.com/office/drawing/2014/main" id="{132821D0-B0C9-3406-787C-4220515233E4}"/>
              </a:ext>
            </a:extLst>
          </p:cNvPr>
          <p:cNvSpPr/>
          <p:nvPr/>
        </p:nvSpPr>
        <p:spPr>
          <a:xfrm>
            <a:off x="6024662" y="156844"/>
            <a:ext cx="3018579" cy="45847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000" b="1" i="1" dirty="0" err="1">
                <a:ea typeface="LG Smart_H2.0 L" panose="020B0600000101010101" pitchFamily="34" charset="-127"/>
              </a:rPr>
              <a:t>Mr.Shin</a:t>
            </a:r>
            <a:r>
              <a:rPr lang="en-US" sz="1000" b="1" i="1" dirty="0">
                <a:ea typeface="LG Smart_H2.0 L" panose="020B0600000101010101" pitchFamily="34" charset="-127"/>
              </a:rPr>
              <a:t> Hyun Woo (FSE),Pak Amri (Team Leader)</a:t>
            </a:r>
          </a:p>
          <a:p>
            <a:pPr algn="ctr"/>
            <a:r>
              <a:rPr lang="en-US" sz="1000" b="1" i="1" dirty="0" err="1">
                <a:ea typeface="LG Smart_H2.0 L" panose="020B0600000101010101" pitchFamily="34" charset="-127"/>
              </a:rPr>
              <a:t>Raihan,Andy,Rafi,Riki,Fauzul</a:t>
            </a:r>
            <a:endParaRPr lang="en-US" sz="1000" b="1" i="1" dirty="0">
              <a:ea typeface="LG Smart_H2.0 L" panose="020B0600000101010101" pitchFamily="34" charset="-127"/>
            </a:endParaRPr>
          </a:p>
        </p:txBody>
      </p:sp>
      <p:sp>
        <p:nvSpPr>
          <p:cNvPr id="10" name="Rectangle 9">
            <a:extLst>
              <a:ext uri="{FF2B5EF4-FFF2-40B4-BE49-F238E27FC236}">
                <a16:creationId xmlns:a16="http://schemas.microsoft.com/office/drawing/2014/main" id="{28FC6E2B-F4A9-21E6-79FF-C388B82E698F}"/>
              </a:ext>
            </a:extLst>
          </p:cNvPr>
          <p:cNvSpPr/>
          <p:nvPr/>
        </p:nvSpPr>
        <p:spPr>
          <a:xfrm>
            <a:off x="79590" y="787401"/>
            <a:ext cx="587356" cy="7154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i="1" dirty="0"/>
              <a:t>KPI</a:t>
            </a:r>
          </a:p>
        </p:txBody>
      </p:sp>
      <p:sp>
        <p:nvSpPr>
          <p:cNvPr id="11" name="Rectangle 10">
            <a:extLst>
              <a:ext uri="{FF2B5EF4-FFF2-40B4-BE49-F238E27FC236}">
                <a16:creationId xmlns:a16="http://schemas.microsoft.com/office/drawing/2014/main" id="{FDAB717D-7D1F-9786-F4FE-DD4F38BFC110}"/>
              </a:ext>
            </a:extLst>
          </p:cNvPr>
          <p:cNvSpPr/>
          <p:nvPr/>
        </p:nvSpPr>
        <p:spPr>
          <a:xfrm>
            <a:off x="719469" y="791422"/>
            <a:ext cx="4020562" cy="70738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endParaRPr lang="en-US" sz="1100" dirty="0"/>
          </a:p>
          <a:p>
            <a:pPr algn="ctr"/>
            <a:endParaRPr lang="en-US" sz="1600" dirty="0"/>
          </a:p>
          <a:p>
            <a:pPr marL="171450" indent="-171450">
              <a:buFont typeface="Arial" panose="020B0604020202020204" pitchFamily="34" charset="0"/>
              <a:buChar char="•"/>
            </a:pPr>
            <a:r>
              <a:rPr lang="en-US" sz="900" b="1" dirty="0"/>
              <a:t>All equipment is recorded in the system</a:t>
            </a:r>
          </a:p>
          <a:p>
            <a:pPr marL="171450" indent="-171450">
              <a:buFont typeface="Arial" panose="020B0604020202020204" pitchFamily="34" charset="0"/>
              <a:buChar char="•"/>
            </a:pPr>
            <a:r>
              <a:rPr lang="en-US" sz="900" b="1" dirty="0"/>
              <a:t>Data is complete and well-</a:t>
            </a:r>
            <a:r>
              <a:rPr lang="en-US" sz="900" b="1" dirty="0" err="1"/>
              <a:t>maintainen</a:t>
            </a:r>
            <a:endParaRPr lang="en-US" sz="900" b="1" dirty="0"/>
          </a:p>
          <a:p>
            <a:pPr marL="171450" indent="-171450">
              <a:buFont typeface="Arial" panose="020B0604020202020204" pitchFamily="34" charset="0"/>
              <a:buChar char="•"/>
            </a:pPr>
            <a:r>
              <a:rPr lang="en-US" sz="1000" b="1" dirty="0"/>
              <a:t>User-friendly and easy to use</a:t>
            </a:r>
          </a:p>
          <a:p>
            <a:pPr algn="ctr"/>
            <a:endParaRPr lang="en-US" sz="1600" dirty="0"/>
          </a:p>
          <a:p>
            <a:pPr algn="ctr"/>
            <a:endParaRPr lang="en-US" sz="1600" dirty="0"/>
          </a:p>
        </p:txBody>
      </p:sp>
      <p:sp>
        <p:nvSpPr>
          <p:cNvPr id="12" name="Rectangle 11">
            <a:extLst>
              <a:ext uri="{FF2B5EF4-FFF2-40B4-BE49-F238E27FC236}">
                <a16:creationId xmlns:a16="http://schemas.microsoft.com/office/drawing/2014/main" id="{8D6D1704-CA88-262D-5BE9-57700D3FF445}"/>
              </a:ext>
            </a:extLst>
          </p:cNvPr>
          <p:cNvSpPr/>
          <p:nvPr/>
        </p:nvSpPr>
        <p:spPr>
          <a:xfrm rot="10800000" flipV="1">
            <a:off x="79590" y="1553633"/>
            <a:ext cx="5186677" cy="30014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Preview</a:t>
            </a:r>
          </a:p>
        </p:txBody>
      </p:sp>
      <p:sp>
        <p:nvSpPr>
          <p:cNvPr id="29" name="Rectangle 28">
            <a:extLst>
              <a:ext uri="{FF2B5EF4-FFF2-40B4-BE49-F238E27FC236}">
                <a16:creationId xmlns:a16="http://schemas.microsoft.com/office/drawing/2014/main" id="{942F74FB-B202-DAB6-2A4C-1139D11575A1}"/>
              </a:ext>
            </a:extLst>
          </p:cNvPr>
          <p:cNvSpPr/>
          <p:nvPr/>
        </p:nvSpPr>
        <p:spPr>
          <a:xfrm>
            <a:off x="5318789" y="1545589"/>
            <a:ext cx="3745621" cy="30818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dirty="0"/>
              <a:t>Details</a:t>
            </a:r>
          </a:p>
        </p:txBody>
      </p:sp>
      <p:pic>
        <p:nvPicPr>
          <p:cNvPr id="32" name="Picture 31">
            <a:extLst>
              <a:ext uri="{FF2B5EF4-FFF2-40B4-BE49-F238E27FC236}">
                <a16:creationId xmlns:a16="http://schemas.microsoft.com/office/drawing/2014/main" id="{DE7E9724-7826-589F-8CBE-8051E7D737A1}"/>
              </a:ext>
            </a:extLst>
          </p:cNvPr>
          <p:cNvPicPr>
            <a:picLocks noChangeAspect="1"/>
          </p:cNvPicPr>
          <p:nvPr/>
        </p:nvPicPr>
        <p:blipFill>
          <a:blip r:embed="rId2"/>
          <a:stretch>
            <a:fillRect/>
          </a:stretch>
        </p:blipFill>
        <p:spPr>
          <a:xfrm>
            <a:off x="79590" y="1904576"/>
            <a:ext cx="5186677" cy="3544571"/>
          </a:xfrm>
          <a:prstGeom prst="rect">
            <a:avLst/>
          </a:prstGeom>
        </p:spPr>
      </p:pic>
      <p:sp>
        <p:nvSpPr>
          <p:cNvPr id="33" name="Flowchart: Process 32">
            <a:extLst>
              <a:ext uri="{FF2B5EF4-FFF2-40B4-BE49-F238E27FC236}">
                <a16:creationId xmlns:a16="http://schemas.microsoft.com/office/drawing/2014/main" id="{D5453ED5-36A3-0948-7D15-770939836A0D}"/>
              </a:ext>
            </a:extLst>
          </p:cNvPr>
          <p:cNvSpPr/>
          <p:nvPr/>
        </p:nvSpPr>
        <p:spPr>
          <a:xfrm>
            <a:off x="5318789" y="1904576"/>
            <a:ext cx="3724453" cy="3544572"/>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marL="171450" indent="-171450" algn="ctr">
              <a:buFont typeface="Wingdings" panose="05000000000000000000" pitchFamily="2" charset="2"/>
              <a:buChar char="Ø"/>
            </a:pPr>
            <a:r>
              <a:rPr lang="en-US" sz="900" b="1" i="1" dirty="0"/>
              <a:t>1.BackgroundThe Reliability Asset Management Control (RAMC) system is developed to manage and monitor equipment data effectively within the DQA Team. Previously, data recording was done manually, which caused inefficiency, data inconsistency, and difficulty in tracking equipment status.</a:t>
            </a:r>
          </a:p>
          <a:p>
            <a:pPr marL="171450" indent="-171450" algn="ctr">
              <a:buFont typeface="Wingdings" panose="05000000000000000000" pitchFamily="2" charset="2"/>
              <a:buChar char="Ø"/>
            </a:pPr>
            <a:r>
              <a:rPr lang="en-US" sz="900" b="1" i="1" dirty="0"/>
              <a:t>2. </a:t>
            </a:r>
            <a:r>
              <a:rPr lang="en-US" sz="900" b="1" i="1" dirty="0" err="1"/>
              <a:t>ObjectiveTo</a:t>
            </a:r>
            <a:r>
              <a:rPr lang="en-US" sz="900" b="1" i="1" dirty="0"/>
              <a:t> digitalize equipment data </a:t>
            </a:r>
            <a:r>
              <a:rPr lang="en-US" sz="900" b="1" i="1" dirty="0" err="1"/>
              <a:t>recordingTo</a:t>
            </a:r>
            <a:r>
              <a:rPr lang="en-US" sz="900" b="1" i="1" dirty="0"/>
              <a:t> improve data accuracy and </a:t>
            </a:r>
            <a:r>
              <a:rPr lang="en-US" sz="900" b="1" i="1" dirty="0" err="1"/>
              <a:t>consistencyTo</a:t>
            </a:r>
            <a:r>
              <a:rPr lang="en-US" sz="900" b="1" i="1" dirty="0"/>
              <a:t> simplify monitoring of equipment condition and calibration status</a:t>
            </a:r>
          </a:p>
          <a:p>
            <a:pPr marL="171450" indent="-171450" algn="ctr">
              <a:buFont typeface="Wingdings" panose="05000000000000000000" pitchFamily="2" charset="2"/>
              <a:buChar char="Ø"/>
            </a:pPr>
            <a:r>
              <a:rPr lang="en-US" sz="900" b="1" i="1" dirty="0"/>
              <a:t>3. System </a:t>
            </a:r>
            <a:r>
              <a:rPr lang="en-US" sz="900" b="1" i="1" dirty="0" err="1"/>
              <a:t>DescriptionThe</a:t>
            </a:r>
            <a:r>
              <a:rPr lang="en-US" sz="900" b="1" i="1" dirty="0"/>
              <a:t> system is a web-based application developed using Node.js, Express.js, and PostgreSQL for the backend, and HTML, CSS, and JavaScript for the </a:t>
            </a:r>
            <a:r>
              <a:rPr lang="en-US" sz="900" b="1" i="1" dirty="0" err="1"/>
              <a:t>frontend.It</a:t>
            </a:r>
            <a:r>
              <a:rPr lang="en-US" sz="900" b="1" i="1" dirty="0"/>
              <a:t> allows users to perform basic data management such </a:t>
            </a:r>
            <a:r>
              <a:rPr lang="en-US" sz="900" b="1" i="1" dirty="0" err="1"/>
              <a:t>as:Add</a:t>
            </a:r>
            <a:r>
              <a:rPr lang="en-US" sz="900" b="1" i="1" dirty="0"/>
              <a:t> new equipment </a:t>
            </a:r>
            <a:r>
              <a:rPr lang="en-US" sz="900" b="1" i="1" dirty="0" err="1"/>
              <a:t>dataView</a:t>
            </a:r>
            <a:r>
              <a:rPr lang="en-US" sz="900" b="1" i="1" dirty="0"/>
              <a:t> equipment </a:t>
            </a:r>
            <a:r>
              <a:rPr lang="en-US" sz="900" b="1" i="1" dirty="0" err="1"/>
              <a:t>listUpdate</a:t>
            </a:r>
            <a:r>
              <a:rPr lang="en-US" sz="900" b="1" i="1" dirty="0"/>
              <a:t> equipment </a:t>
            </a:r>
            <a:r>
              <a:rPr lang="en-US" sz="900" b="1" i="1" dirty="0" err="1"/>
              <a:t>informationDelete</a:t>
            </a:r>
            <a:r>
              <a:rPr lang="en-US" sz="900" b="1" i="1" dirty="0"/>
              <a:t> equipment data</a:t>
            </a:r>
          </a:p>
          <a:p>
            <a:pPr marL="171450" indent="-171450" algn="ctr">
              <a:buFont typeface="Wingdings" panose="05000000000000000000" pitchFamily="2" charset="2"/>
              <a:buChar char="Ø"/>
            </a:pPr>
            <a:r>
              <a:rPr lang="en-US" sz="900" b="1" i="1" dirty="0"/>
              <a:t>4. Key </a:t>
            </a:r>
            <a:r>
              <a:rPr lang="en-US" sz="900" b="1" i="1" dirty="0" err="1"/>
              <a:t>FeaturesEquipment</a:t>
            </a:r>
            <a:r>
              <a:rPr lang="en-US" sz="900" b="1" i="1" dirty="0"/>
              <a:t> data management (CRUD)Search </a:t>
            </a:r>
            <a:r>
              <a:rPr lang="en-US" sz="900" b="1" i="1" dirty="0" err="1"/>
              <a:t>functionalityStatus</a:t>
            </a:r>
            <a:r>
              <a:rPr lang="en-US" sz="900" b="1" i="1" dirty="0"/>
              <a:t> and condition </a:t>
            </a:r>
            <a:r>
              <a:rPr lang="en-US" sz="900" b="1" i="1" dirty="0" err="1"/>
              <a:t>trackingCalibration</a:t>
            </a:r>
            <a:r>
              <a:rPr lang="en-US" sz="900" b="1" i="1" dirty="0"/>
              <a:t> date </a:t>
            </a:r>
            <a:r>
              <a:rPr lang="en-US" sz="900" b="1" i="1" dirty="0" err="1"/>
              <a:t>monitoringSimple</a:t>
            </a:r>
            <a:r>
              <a:rPr lang="en-US" sz="900" b="1" i="1" dirty="0"/>
              <a:t> and user-friendly interface</a:t>
            </a:r>
          </a:p>
          <a:p>
            <a:pPr marL="171450" indent="-171450" algn="ctr">
              <a:buFont typeface="Wingdings" panose="05000000000000000000" pitchFamily="2" charset="2"/>
              <a:buChar char="Ø"/>
            </a:pPr>
            <a:r>
              <a:rPr lang="en-US" sz="900" b="1" i="1" dirty="0"/>
              <a:t>5. Expected </a:t>
            </a:r>
            <a:r>
              <a:rPr lang="en-US" sz="900" b="1" i="1" dirty="0" err="1"/>
              <a:t>BenefitsFaster</a:t>
            </a:r>
            <a:r>
              <a:rPr lang="en-US" sz="900" b="1" i="1" dirty="0"/>
              <a:t> data input and </a:t>
            </a:r>
            <a:r>
              <a:rPr lang="en-US" sz="900" b="1" i="1" dirty="0" err="1"/>
              <a:t>retrievalReduced</a:t>
            </a:r>
            <a:r>
              <a:rPr lang="en-US" sz="900" b="1" i="1" dirty="0"/>
              <a:t> human </a:t>
            </a:r>
            <a:r>
              <a:rPr lang="en-US" sz="900" b="1" i="1" dirty="0" err="1"/>
              <a:t>errorCentralized</a:t>
            </a:r>
            <a:r>
              <a:rPr lang="en-US" sz="900" b="1" i="1" dirty="0"/>
              <a:t> data </a:t>
            </a:r>
            <a:r>
              <a:rPr lang="en-US" sz="900" b="1" i="1" dirty="0" err="1"/>
              <a:t>storageBetter</a:t>
            </a:r>
            <a:r>
              <a:rPr lang="en-US" sz="900" b="1" i="1" dirty="0"/>
              <a:t> control of equipment status</a:t>
            </a:r>
          </a:p>
          <a:p>
            <a:pPr marL="171450" indent="-171450" algn="ctr">
              <a:buFont typeface="Wingdings" panose="05000000000000000000" pitchFamily="2" charset="2"/>
              <a:buChar char="Ø"/>
            </a:pPr>
            <a:r>
              <a:rPr lang="en-US" sz="900" b="1" i="1" dirty="0"/>
              <a:t>6. Current </a:t>
            </a:r>
            <a:r>
              <a:rPr lang="en-US" sz="900" b="1" i="1" dirty="0" err="1"/>
              <a:t>StatusThe</a:t>
            </a:r>
            <a:r>
              <a:rPr lang="en-US" sz="900" b="1" i="1" dirty="0"/>
              <a:t> system has successfully connected frontend, backend, and database. Data can be displayed and managed through the web interface. Further improvements are focused on enhancing user interface and system stability</a:t>
            </a:r>
          </a:p>
        </p:txBody>
      </p:sp>
      <p:sp>
        <p:nvSpPr>
          <p:cNvPr id="39" name="Flowchart: Process 38">
            <a:extLst>
              <a:ext uri="{FF2B5EF4-FFF2-40B4-BE49-F238E27FC236}">
                <a16:creationId xmlns:a16="http://schemas.microsoft.com/office/drawing/2014/main" id="{1385E774-AA30-D78E-FB1C-57A57AF97858}"/>
              </a:ext>
            </a:extLst>
          </p:cNvPr>
          <p:cNvSpPr/>
          <p:nvPr/>
        </p:nvSpPr>
        <p:spPr>
          <a:xfrm>
            <a:off x="79591" y="5808134"/>
            <a:ext cx="8963650" cy="982134"/>
          </a:xfrm>
          <a:prstGeom prst="flowChartProcess">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US" dirty="0"/>
          </a:p>
        </p:txBody>
      </p:sp>
      <p:sp>
        <p:nvSpPr>
          <p:cNvPr id="41" name="Flowchart: Process 40">
            <a:extLst>
              <a:ext uri="{FF2B5EF4-FFF2-40B4-BE49-F238E27FC236}">
                <a16:creationId xmlns:a16="http://schemas.microsoft.com/office/drawing/2014/main" id="{02CAEA3E-2D3E-0ECF-024E-29FB9A3D9B5B}"/>
              </a:ext>
            </a:extLst>
          </p:cNvPr>
          <p:cNvSpPr/>
          <p:nvPr/>
        </p:nvSpPr>
        <p:spPr>
          <a:xfrm>
            <a:off x="79590" y="5748445"/>
            <a:ext cx="9043241" cy="1041823"/>
          </a:xfrm>
          <a:prstGeom prst="flowChartProcess">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600" b="1" i="1" dirty="0" err="1"/>
              <a:t>NOTED:</a:t>
            </a:r>
            <a:r>
              <a:rPr lang="en-US" sz="1600" i="1" dirty="0" err="1"/>
              <a:t>This</a:t>
            </a:r>
            <a:r>
              <a:rPr lang="en-US" sz="1600" i="1" dirty="0"/>
              <a:t> interface is not fully finalized and is currently presented for demonstration purposes only. Some columns will need to be removed, and additional features or columns are planned to be implemented in the dashboard in future revisions</a:t>
            </a:r>
            <a:r>
              <a:rPr lang="en-US" sz="1600" b="1" i="1" dirty="0"/>
              <a:t>.</a:t>
            </a:r>
          </a:p>
        </p:txBody>
      </p:sp>
      <p:cxnSp>
        <p:nvCxnSpPr>
          <p:cNvPr id="46" name="Connector: Curved 45">
            <a:extLst>
              <a:ext uri="{FF2B5EF4-FFF2-40B4-BE49-F238E27FC236}">
                <a16:creationId xmlns:a16="http://schemas.microsoft.com/office/drawing/2014/main" id="{041CC947-CD9B-3236-CE7B-5C4F3BD0DAD5}"/>
              </a:ext>
            </a:extLst>
          </p:cNvPr>
          <p:cNvCxnSpPr>
            <a:cxnSpLocks/>
          </p:cNvCxnSpPr>
          <p:nvPr/>
        </p:nvCxnSpPr>
        <p:spPr>
          <a:xfrm rot="16200000" flipH="1">
            <a:off x="935672" y="5512541"/>
            <a:ext cx="270721" cy="143933"/>
          </a:xfrm>
          <a:prstGeom prst="curvedConnector3">
            <a:avLst>
              <a:gd name="adj1" fmla="val 81274"/>
            </a:avLst>
          </a:prstGeom>
          <a:ln>
            <a:headEnd type="triangle"/>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9737044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TotalTime>
  <Words>296</Words>
  <Application>Microsoft Office PowerPoint</Application>
  <PresentationFormat>On-screen Show (4:3)</PresentationFormat>
  <Paragraphs>25</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LG Smart_H2.0 L</vt: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RAIHAN DIAS SYARIF MAHENDRA/LGERC DQA TEAM</dc:creator>
  <cp:lastModifiedBy>RAIHAN DIAS SYARIF MAHENDRA/LGERC DQA TEAM</cp:lastModifiedBy>
  <cp:revision>2</cp:revision>
  <dcterms:created xsi:type="dcterms:W3CDTF">2026-06-24T00:42:11Z</dcterms:created>
  <dcterms:modified xsi:type="dcterms:W3CDTF">2026-06-24T02:52:45Z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c6ed9fc-fefc-4a0c-a6d6-10cf236c0d4f_Enabled">
    <vt:lpwstr>true</vt:lpwstr>
  </property>
  <property fmtid="{D5CDD505-2E9C-101B-9397-08002B2CF9AE}" pid="3" name="MSIP_Label_cc6ed9fc-fefc-4a0c-a6d6-10cf236c0d4f_SetDate">
    <vt:lpwstr>2026-06-24T02:50:31Z</vt:lpwstr>
  </property>
  <property fmtid="{D5CDD505-2E9C-101B-9397-08002B2CF9AE}" pid="4" name="MSIP_Label_cc6ed9fc-fefc-4a0c-a6d6-10cf236c0d4f_Method">
    <vt:lpwstr>Standard</vt:lpwstr>
  </property>
  <property fmtid="{D5CDD505-2E9C-101B-9397-08002B2CF9AE}" pid="5" name="MSIP_Label_cc6ed9fc-fefc-4a0c-a6d6-10cf236c0d4f_Name">
    <vt:lpwstr>Internal use only</vt:lpwstr>
  </property>
  <property fmtid="{D5CDD505-2E9C-101B-9397-08002B2CF9AE}" pid="6" name="MSIP_Label_cc6ed9fc-fefc-4a0c-a6d6-10cf236c0d4f_SiteId">
    <vt:lpwstr>5069cde4-642a-45c0-8094-d0c2dec10be3</vt:lpwstr>
  </property>
  <property fmtid="{D5CDD505-2E9C-101B-9397-08002B2CF9AE}" pid="7" name="MSIP_Label_cc6ed9fc-fefc-4a0c-a6d6-10cf236c0d4f_ActionId">
    <vt:lpwstr>a9943931-a953-4791-84f0-456c65155808</vt:lpwstr>
  </property>
  <property fmtid="{D5CDD505-2E9C-101B-9397-08002B2CF9AE}" pid="8" name="MSIP_Label_cc6ed9fc-fefc-4a0c-a6d6-10cf236c0d4f_ContentBits">
    <vt:lpwstr>1</vt:lpwstr>
  </property>
  <property fmtid="{D5CDD505-2E9C-101B-9397-08002B2CF9AE}" pid="9" name="MSIP_Label_cc6ed9fc-fefc-4a0c-a6d6-10cf236c0d4f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LGE Internal Use Only</vt:lpwstr>
  </property>
</Properties>
</file>